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53B50"/>
                </a:solidFill>
                <a:latin typeface="Aptos"/>
              </a:defRPr>
            </a:pPr>
            <a:r>
              <a:t>Dimensionality reduction for biomedical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743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53B50"/>
                </a:solidFill>
                <a:latin typeface="Aptos"/>
              </a:defRPr>
            </a:pPr>
            <a:r>
              <a:t>HAM10000 and blood-cell anomaly data</a:t>
            </a:r>
            <a:br/>
            <a:r>
              <a:t>Measured pilot comparison | 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Study question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Can a two-dimensional representation preserve class information for held-out records?</a:t>
            </a:r>
            <a:br/>
            <a:br/>
            <a:r>
              <a:t>Nine algorithms. Two parameter settings each. Three shared splits. One balanced logistic regression per embedding.</a:t>
            </a:r>
            <a:br/>
            <a:br/>
            <a:r>
              <a:t>Primary ranking uses setting A only; setting B tests parameter sensitivity.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Two datasets and their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HAM10000: 10,015 8 × 8 RGB lesion records, 192 pixel features, melanoma versus other diagnoses. Split by lesion ID.</a:t>
            </a:r>
            <a:br/>
            <a:br/>
            <a:r>
              <a:t>Blood-cell anomaly table: 5,880 rows, 22 selected numeric features, anomaly versus normal. Patient IDs and independent clinical provenance are unavailable.</a:t>
            </a:r>
            <a:br/>
            <a:br/>
            <a:r>
              <a:t>Neither dataset supports diagnostic deployment from this 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What the nine methods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PCA and kernel PCA retain linear or kernel structure. SNE, t-SNE, the PCA plus t-SNE hybrid, and UMAP emphasize neighborhoods.</a:t>
            </a:r>
            <a:br/>
            <a:br/>
            <a:r>
              <a:t>Metric MDS preserves Euclidean distances. PCoA decomposes cosine distances. Isomap uses graph geodesics.</a:t>
            </a:r>
            <a:br/>
            <a:br/>
            <a:r>
              <a:t>All output two coordinates, then use the same classifier.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The comparison measures retained class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Input features are standardized using the training records. Each algorithm reduces them to two coordinates. The same balanced logistic regression then predicts held-out labels.</a:t>
            </a:r>
            <a:br/>
            <a:br/>
            <a:r>
              <a:t>AUC asks whether positives generally receive higher scores than negatives across thresholds. Accuracy evaluates one fixed threshold. Log loss penalizes confident wrong probabilities. CPU time covers the full fitted pipeline.</a:t>
            </a:r>
            <a:br/>
            <a:br/>
            <a:r>
              <a:t>A visually neat map is insufficient evidence unless held-out prediction also improves.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Global geometry: PCA, kernel PCA, MDS, PCoA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PCA keeps directions with the most variance. It is fast, but large variance need not represent disease.</a:t>
            </a:r>
            <a:br/>
            <a:br/>
            <a:r>
              <a:t>Kernel PCA uses an RBF similarity so curved patterns can become separable. Its gamma setting determines the scale of similarity.</a:t>
            </a:r>
            <a:br/>
            <a:br/>
            <a:r>
              <a:t>MDS tries to preserve Euclidean distances between every pair. PCoA eigendecomposes a centered distance matrix; here cosine distance is primary. Both can devote two dimensions to variation unrelated to the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Local geometry: SNE, t-SNE, hybrid, UMAP, Isomap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SNE and t-SNE match neighbor probabilities. t-SNE's heavy tail reduces crowding; perplexity controls neighborhood scale. PCA plus t-SNE first filters the inputs to at most 30 components.</a:t>
            </a:r>
            <a:br/>
            <a:br/>
            <a:r>
              <a:t>UMAP builds a fuzzy neighbor graph; its neighbor count controls how local the map is. Isomap uses graph shortest paths to estimate geodesic distances.</a:t>
            </a:r>
            <a:br/>
            <a:br/>
            <a:r>
              <a:t>These maps can reveal local structure, but they may distort global distances and change when the neighborhood parameter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How unseen test records enter each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PCA, kernel PCA, UMAP, and Isomap transform new records directly. PCoA uses a distance-based Gower extension.</a:t>
            </a:r>
            <a:br/>
            <a:br/>
            <a:r>
              <a:t>The chosen SNE, t-SNE, and MDS implementations have no native test transform. A five-neighbor weighted regressor estimates test coordinates from their training maps.</a:t>
            </a:r>
            <a:br/>
            <a:br/>
            <a:r>
              <a:t>The measured ranking therefore compares complete representation pipelines, including this approximation. It does not compare only the training 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Method readings: PCA through the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PCA: blood-cell AUC 0.630, the best there. A simple linear map may suffice for these selected features; it is weakest on HAM AUC at 0.602.</a:t>
            </a:r>
            <a:br/>
            <a:br/>
            <a:r>
              <a:t>Kernel PCA: 0.638 HAM, 0.624 blood. Curved RBF similarities help modestly, with kernel scale affecting the map.</a:t>
            </a:r>
            <a:br/>
            <a:br/>
            <a:r>
              <a:t>SNE: 0.616 HAM, 0.581 blood. Local-neighbor matching does not consistently retain the label signal.</a:t>
            </a:r>
            <a:br/>
            <a:br/>
            <a:r>
              <a:t>t-SNE: 0.638 HAM, 0.622 blood. Better than SNE on both, but its approximate test transform limits interpretation.</a:t>
            </a:r>
            <a:br/>
            <a:br/>
            <a:r>
              <a:t>PCA plus t-SNE: 0.632 HAM, 0.616 blood. The preprocessing step shows no gain over t-SNE in this pilot.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Method readings: UMAP through Isomap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UMAP: 0.645 HAM, 0.600 blood. The neighbor graph ranks lesions well, but costs about 2.24 CPU seconds per HAM run.</a:t>
            </a:r>
            <a:br/>
            <a:br/>
            <a:r>
              <a:t>MDS: 0.620 HAM, 0.562 blood. Preserving global Euclidean distances gives the weakest blood-cell AUC.</a:t>
            </a:r>
            <a:br/>
            <a:br/>
            <a:r>
              <a:t>PCoA: 0.633 HAM, 0.616 blood. Cosine distances give middle-ranking performance; a different distance changes the result.</a:t>
            </a:r>
            <a:br/>
            <a:br/>
            <a:r>
              <a:t>Isomap: 0.649 HAM, 0.582 blood. Graph geodesics lead HAM AUC but transfer poorly to the blood-cell table.</a:t>
            </a:r>
            <a:br/>
            <a:br/>
            <a:r>
              <a:t>The mechanisms above are interpretations of measured associations, not proven causes.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HAM10000: accuracy and loss</a:t>
            </a:r>
          </a:p>
        </p:txBody>
      </p:sp>
      <p:pic>
        <p:nvPicPr>
          <p:cNvPr id="3" name="Picture 2" descr="HAM10000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2244172"/>
          </a:xfrm>
          <a:prstGeom prst="rect">
            <a:avLst/>
          </a:prstGeom>
        </p:spPr>
      </p:pic>
      <p:pic>
        <p:nvPicPr>
          <p:cNvPr id="4" name="Picture 3" descr="HAM10000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2207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B50"/>
                </a:solidFill>
                <a:latin typeface="Aptos"/>
              </a:defRPr>
            </a:pPr>
            <a:r>
              <a:t>Highest mean AUC: Isomap, 0.649. The two charts show why accuracy and probability loss should be read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HAM10000: ROC and confusion matrices</a:t>
            </a:r>
          </a:p>
        </p:txBody>
      </p:sp>
      <p:pic>
        <p:nvPicPr>
          <p:cNvPr id="3" name="Picture 2" descr="HAM10000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4395580"/>
          </a:xfrm>
          <a:prstGeom prst="rect">
            <a:avLst/>
          </a:prstGeom>
        </p:spPr>
      </p:pic>
      <p:pic>
        <p:nvPicPr>
          <p:cNvPr id="4" name="Picture 3" descr="HAM10000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5481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HAM10000: better ranking, weak positive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Isomap leads mean ROC AUC at 0.649, versus 0.602 for PCA. A neighbor graph may retain class-related structure that the largest-variance PCA axes miss. The experiment does not establish that mechanism.</a:t>
            </a:r>
            <a:br/>
            <a:br/>
            <a:r>
              <a:t>PCA has slightly higher accuracy, 0.609 versus 0.590. AUC measures ranking across thresholds, while accuracy uses the prespecified 0.5 threshold.</a:t>
            </a:r>
            <a:br/>
            <a:br/>
            <a:r>
              <a:t>Isomap precision is 0.134: most positive calls are false positives. The 8 × 8 pixels and low melanoma prevalence limit clinical meaning.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Blood cell: accuracy and loss</a:t>
            </a:r>
          </a:p>
        </p:txBody>
      </p:sp>
      <p:pic>
        <p:nvPicPr>
          <p:cNvPr id="3" name="Picture 2" descr="Blood_cel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2244172"/>
          </a:xfrm>
          <a:prstGeom prst="rect">
            <a:avLst/>
          </a:prstGeom>
        </p:spPr>
      </p:pic>
      <p:pic>
        <p:nvPicPr>
          <p:cNvPr id="4" name="Picture 3" descr="Blood_cell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2207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B50"/>
                </a:solidFill>
                <a:latin typeface="Aptos"/>
              </a:defRPr>
            </a:pPr>
            <a:r>
              <a:t>Highest mean AUC: PCA, 0.630. The two charts show why accuracy and probability loss should be read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Blood cell: ROC and confusion matrices</a:t>
            </a:r>
          </a:p>
        </p:txBody>
      </p:sp>
      <p:pic>
        <p:nvPicPr>
          <p:cNvPr id="3" name="Picture 2" descr="Blood_cel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4395580"/>
          </a:xfrm>
          <a:prstGeom prst="rect">
            <a:avLst/>
          </a:prstGeom>
        </p:spPr>
      </p:pic>
      <p:pic>
        <p:nvPicPr>
          <p:cNvPr id="4" name="Picture 3" descr="Blood_cell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54810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Blood cells: fast PCA wins on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PCA leads mean ROC AUC at 0.630 and takes about 0.02 CPU seconds. Broad linear variation may capture useful signal in the 22 selected features.</a:t>
            </a:r>
            <a:br/>
            <a:br/>
            <a:r>
              <a:t>SNE reaches 0.614 accuracy but only 0.581 AUC. Its threshold decisions look better than its overall ranking; accuracy alone would give a misleading winner.</a:t>
            </a:r>
            <a:br/>
            <a:br/>
            <a:r>
              <a:t>MDS has 0.562 AUC and takes about 1.06 CPU seconds. Keeping global distances in two dimensions did not retain much class signal here. Patient-level generalization remains untested.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CPU time has a steep method cost</a:t>
            </a:r>
          </a:p>
        </p:txBody>
      </p:sp>
      <p:pic>
        <p:nvPicPr>
          <p:cNvPr id="3" name="Picture 2" descr="HAM10000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2244172"/>
          </a:xfrm>
          <a:prstGeom prst="rect">
            <a:avLst/>
          </a:prstGeom>
        </p:spPr>
      </p:pic>
      <p:pic>
        <p:nvPicPr>
          <p:cNvPr id="4" name="Picture 3" descr="Blood_cell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2207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B50"/>
                </a:solidFill>
                <a:latin typeface="Aptos"/>
              </a:defRPr>
            </a:pPr>
            <a:r>
              <a:t>PCA and kernel PCA are fastest in this sample-size range. UMAP, SNE, and t-SNE require substantially more CPU time. UMAP's first compilation is measured separately.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CPU cost changes the practical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On blood cells, PCA needs about 0.02 CPU seconds and SNE about 6.10 seconds per run. SNE does not gain AUC in exchange for that extra compute (0.581 versus 0.630).</a:t>
            </a:r>
            <a:br/>
            <a:br/>
            <a:r>
              <a:t>On HAM10000, Isomap leads AUC at about 0.10 CPU seconds; UMAP is close in AUC (0.645 versus 0.649) but takes about 2.24 seconds.</a:t>
            </a:r>
            <a:br/>
            <a:br/>
            <a:r>
              <a:t>These are process CPU times for 750 training and 300 test records. UMAP's one-time compilation warmup is excluded and recorded separately; scaling can change the order.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Parameter settings change the ranking</a:t>
            </a:r>
          </a:p>
        </p:txBody>
      </p:sp>
      <p:pic>
        <p:nvPicPr>
          <p:cNvPr id="3" name="Picture 2" descr="HAM10000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2919130"/>
          </a:xfrm>
          <a:prstGeom prst="rect">
            <a:avLst/>
          </a:prstGeom>
        </p:spPr>
      </p:pic>
      <p:pic>
        <p:nvPicPr>
          <p:cNvPr id="4" name="Picture 3" descr="Blood_cell_parame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486400" cy="2871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B50"/>
                </a:solidFill>
                <a:latin typeface="Aptos"/>
              </a:defRPr>
            </a:pPr>
            <a:r>
              <a:t>A second setting changes neighborhood size or perplexity. Selecting a winner on the test set would inflate the reported result.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What the parameter comparison can and cannot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Setting A was declared primary before reading test results. Setting B checks whether whitening, kernel scale, perplexity, neighbor count, MDS iterations, or PCoA distance changes the result.</a:t>
            </a:r>
            <a:br/>
            <a:br/>
            <a:r>
              <a:t>Large A-to-B shifts show tuning sensitivity, especially for methods that define neighborhoods. They do not justify choosing the better test-set setting after the fact.</a:t>
            </a:r>
            <a:br/>
            <a:br/>
            <a:r>
              <a:t>A stronger study would tune parameters inside each training fold and then evaluate once on an untouched outer test fold.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Gaussian SNE optimization loss</a:t>
            </a:r>
          </a:p>
        </p:txBody>
      </p:sp>
      <p:pic>
        <p:nvPicPr>
          <p:cNvPr id="3" name="Picture 2" descr="sne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7315200" cy="27175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325880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3B50"/>
                </a:solidFill>
                <a:latin typeface="Aptos"/>
              </a:defRPr>
            </a:pPr>
            <a:r>
              <a:t>The plotted KL objective tracks Gaussian SNE fitting. Native PCA, t-SNE, and UMAP objectives have different meanings. The earlier classifier log-loss charts are comparable across methods.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FROC AUC is not available</a:t>
            </a:r>
          </a:p>
        </p:txBody>
      </p:sp>
      <p:pic>
        <p:nvPicPr>
          <p:cNvPr id="3" name="Picture 2" descr="froc_applic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7315200" cy="281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325880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3B50"/>
                </a:solidFill>
                <a:latin typeface="Aptos"/>
              </a:defRPr>
            </a:pPr>
            <a:r>
              <a:t>ROC AUC is reported. A valid FROC needs scored candidate lesion locations and false positives per image. These tables have one label and one score per record.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Statistical tests are exploratory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Repeated-measures ANOVA of AUC: F(8,40)=0.673, p=0.712. Descriptive MANOVA method term: Wilks' lambda=0.840, p=0.945.</a:t>
            </a:r>
            <a:br/>
            <a:br/>
            <a:r>
              <a:t>Paired t, Wilcoxon, and McNemar z comparisons are in the repository. Three overlapping splits have low power. MANOVA's independence assumption is violated. Read all p values as diagnostics.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What counts as good or bad evidence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A good result would combine high held-out AUC with useful sensitivity and precision, low log loss, stable parameters, and an acceptable CPU cost. None of these pilot AUCs exceeds 0.65.</a:t>
            </a:r>
            <a:br/>
            <a:br/>
            <a:r>
              <a:t>A method can look good on one metric and weak on another: SNE has the highest blood-cell accuracy but lower AUC than PCA; Isomap leads HAM AUC but its positive precision is only 0.134.</a:t>
            </a:r>
            <a:br/>
            <a:br/>
            <a:r>
              <a:t>Three overlapping splits do not provide a reliable superiority claim. The statistical tests and plots describe this experiment, not clinical readiness.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B50"/>
                </a:solidFill>
                <a:latin typeface="Aptos"/>
              </a:defRPr>
            </a:pPr>
            <a:r>
              <a:t>Interpretation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53B50"/>
                </a:solidFill>
                <a:latin typeface="Aptos"/>
              </a:defRPr>
            </a:pPr>
            <a:r>
              <a:t>Performance changes with split and parameter choice. The 8 × 8 lesion images limit clinical meaning. The blood-cell table lacks patient-level validation.</a:t>
            </a:r>
            <a:br/>
            <a:br/>
            <a:r>
              <a:t>For a journal study: use original or validated features, external cohorts, nested tuning, uncertainty intervals, and lesion locations if FROC is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770"/>
                </a:solidFill>
                <a:latin typeface="Aptos"/>
              </a:defRPr>
            </a:pPr>
            <a:r>
              <a:t>Sources and exact numbers: AML_research_report.docx and results/primary_summary.csv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