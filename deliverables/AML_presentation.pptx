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1440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53B50"/>
                </a:solidFill>
                <a:latin typeface="Aptos"/>
              </a:defRPr>
            </a:pPr>
            <a:r>
              <a:t>Dimensionality reduction for biomedical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432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53B50"/>
                </a:solidFill>
                <a:latin typeface="Aptos"/>
              </a:defRPr>
            </a:pPr>
            <a:r>
              <a:t>HAM10000 and blood-cell anomaly data</a:t>
            </a:r>
            <a:br/>
            <a:r>
              <a:t>Measured pilot comparison | 21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Study question and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Can a two-dimensional representation preserve class information for held-out records?</a:t>
            </a:r>
            <a:br/>
            <a:br/>
            <a:r>
              <a:t>Nine algorithms. Two parameter settings each. Three shared splits. One balanced logistic regression per embedding.</a:t>
            </a:r>
            <a:br/>
            <a:br/>
            <a:r>
              <a:t>Primary ranking uses setting A only; setting B tests parameter sensitivity.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Two datasets and their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HAM10000: 10,015 8 × 8 RGB lesion records, 192 pixel features, melanoma versus other diagnoses. Split by lesion ID.</a:t>
            </a:r>
            <a:br/>
            <a:br/>
            <a:r>
              <a:t>Blood-cell anomaly table: 5,880 rows, 22 selected numeric features, anomaly versus normal. Patient IDs and independent clinical provenance are unavailable.</a:t>
            </a:r>
            <a:br/>
            <a:br/>
            <a:r>
              <a:t>Neither dataset supports diagnostic deployment from this pilot.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What the nine methods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PCA and kernel PCA retain linear or kernel structure. SNE, t-SNE, the PCA plus t-SNE hybrid, and UMAP emphasize neighborhoods.</a:t>
            </a:r>
            <a:br/>
            <a:br/>
            <a:r>
              <a:t>Metric MDS preserves Euclidean distances. PCoA decomposes cosine distances. Isomap uses graph geodesics.</a:t>
            </a:r>
            <a:br/>
            <a:br/>
            <a:r>
              <a:t>All output two coordinates, then use the same classifier.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HAM10000: accuracy and loss</a:t>
            </a:r>
          </a:p>
        </p:txBody>
      </p:sp>
      <p:pic>
        <p:nvPicPr>
          <p:cNvPr id="3" name="Picture 2" descr="HAM10000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577840" cy="2244172"/>
          </a:xfrm>
          <a:prstGeom prst="rect">
            <a:avLst/>
          </a:prstGeom>
        </p:spPr>
      </p:pic>
      <p:pic>
        <p:nvPicPr>
          <p:cNvPr id="4" name="Picture 3" descr="HAM10000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486400" cy="22073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892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53B50"/>
                </a:solidFill>
                <a:latin typeface="Aptos"/>
              </a:defRPr>
            </a:pPr>
            <a:r>
              <a:t>Highest mean AUC: Isomap, 0.649. The two charts show why accuracy and probability loss should be read together.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HAM10000: ROC and confusion matrices</a:t>
            </a:r>
          </a:p>
        </p:txBody>
      </p:sp>
      <p:pic>
        <p:nvPicPr>
          <p:cNvPr id="3" name="Picture 2" descr="HAM1000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577840" cy="4395580"/>
          </a:xfrm>
          <a:prstGeom prst="rect">
            <a:avLst/>
          </a:prstGeom>
        </p:spPr>
      </p:pic>
      <p:pic>
        <p:nvPicPr>
          <p:cNvPr id="4" name="Picture 3" descr="HAM10000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486400" cy="54810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Blood cell: accuracy and loss</a:t>
            </a:r>
          </a:p>
        </p:txBody>
      </p:sp>
      <p:pic>
        <p:nvPicPr>
          <p:cNvPr id="3" name="Picture 2" descr="Blood_cell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577840" cy="2244172"/>
          </a:xfrm>
          <a:prstGeom prst="rect">
            <a:avLst/>
          </a:prstGeom>
        </p:spPr>
      </p:pic>
      <p:pic>
        <p:nvPicPr>
          <p:cNvPr id="4" name="Picture 3" descr="Blood_cell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486400" cy="22073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892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53B50"/>
                </a:solidFill>
                <a:latin typeface="Aptos"/>
              </a:defRPr>
            </a:pPr>
            <a:r>
              <a:t>Highest mean AUC: PCA, 0.630. The two charts show why accuracy and probability loss should be read together.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Blood cell: ROC and confusion matrices</a:t>
            </a:r>
          </a:p>
        </p:txBody>
      </p:sp>
      <p:pic>
        <p:nvPicPr>
          <p:cNvPr id="3" name="Picture 2" descr="Blood_cell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577840" cy="4395580"/>
          </a:xfrm>
          <a:prstGeom prst="rect">
            <a:avLst/>
          </a:prstGeom>
        </p:spPr>
      </p:pic>
      <p:pic>
        <p:nvPicPr>
          <p:cNvPr id="4" name="Picture 3" descr="Blood_cell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486400" cy="54810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CPU time has a steep method cost</a:t>
            </a:r>
          </a:p>
        </p:txBody>
      </p:sp>
      <p:pic>
        <p:nvPicPr>
          <p:cNvPr id="3" name="Picture 2" descr="HAM10000_c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577840" cy="2244172"/>
          </a:xfrm>
          <a:prstGeom prst="rect">
            <a:avLst/>
          </a:prstGeom>
        </p:spPr>
      </p:pic>
      <p:pic>
        <p:nvPicPr>
          <p:cNvPr id="4" name="Picture 3" descr="Blood_cell_cp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486400" cy="22073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892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53B50"/>
                </a:solidFill>
                <a:latin typeface="Aptos"/>
              </a:defRPr>
            </a:pPr>
            <a:r>
              <a:t>PCA and kernel PCA are fastest in this sample-size range. UMAP, SNE, and t-SNE require substantially more CPU time. UMAP's first compilation is measured separately.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Parameter settings change the ranking</a:t>
            </a:r>
          </a:p>
        </p:txBody>
      </p:sp>
      <p:pic>
        <p:nvPicPr>
          <p:cNvPr id="3" name="Picture 2" descr="HAM10000_parame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577840" cy="2919130"/>
          </a:xfrm>
          <a:prstGeom prst="rect">
            <a:avLst/>
          </a:prstGeom>
        </p:spPr>
      </p:pic>
      <p:pic>
        <p:nvPicPr>
          <p:cNvPr id="4" name="Picture 3" descr="Blood_cell_parame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486400" cy="2871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892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53B50"/>
                </a:solidFill>
                <a:latin typeface="Aptos"/>
              </a:defRPr>
            </a:pPr>
            <a:r>
              <a:t>A second setting changes neighborhood size or perplexity. Selecting a winner on the test set would inflate the reported result.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Gaussian SNE optimization loss</a:t>
            </a:r>
          </a:p>
        </p:txBody>
      </p:sp>
      <p:pic>
        <p:nvPicPr>
          <p:cNvPr id="3" name="Picture 2" descr="sne_obj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7315200" cy="27175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325880"/>
            <a:ext cx="3520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53B50"/>
                </a:solidFill>
                <a:latin typeface="Aptos"/>
              </a:defRPr>
            </a:pPr>
            <a:r>
              <a:t>The plotted KL objective tracks Gaussian SNE fitting. Native PCA, t-SNE, and UMAP objectives have different meanings. The earlier classifier log-loss charts are comparable across methods.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FROC AUC is not available</a:t>
            </a:r>
          </a:p>
        </p:txBody>
      </p:sp>
      <p:pic>
        <p:nvPicPr>
          <p:cNvPr id="3" name="Picture 2" descr="froc_applic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7315200" cy="281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325880"/>
            <a:ext cx="3520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53B50"/>
                </a:solidFill>
                <a:latin typeface="Aptos"/>
              </a:defRPr>
            </a:pPr>
            <a:r>
              <a:t>ROC AUC is reported. A valid FROC needs scored candidate lesion locations and false positives per image. These tables have one label and one score per record.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Statistical tests are exploratory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Repeated-measures ANOVA of AUC: F(8,40)=0.673, p=0.712. Descriptive MANOVA method term: Wilks' lambda=0.840, p=0.945.</a:t>
            </a:r>
            <a:br/>
            <a:br/>
            <a:r>
              <a:t>Paired t, Wilcoxon, and McNemar z comparisons are in the repository. Three overlapping splits have low power. MANOVA's independence assumption is violated. Read all p values as diagnostics.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Interpretation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Performance changes with split and parameter choice. The 8 × 8 lesion images limit clinical meaning. The blood-cell table lacks patient-level validation.</a:t>
            </a:r>
            <a:br/>
            <a:br/>
            <a:r>
              <a:t>For a journal study: use original or validated features, external cohorts, nested tuning, uncertainty intervals, and lesion locations if FROC is required.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C6770"/>
                </a:solidFill>
                <a:latin typeface="Aptos"/>
              </a:defRPr>
            </a:pPr>
            <a:r>
              <a:t>Sources and exact numbers: AML_research_report.docx and results/primary_summary.csv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